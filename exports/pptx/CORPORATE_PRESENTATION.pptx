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thirty seconds. "Vytalix is a new, founder-led health-technology group. I'll show you what we do, how the four parts fit, and what we're looking for from this conversation."</a:t>
            </a:r>
          </a:p>
          <a:p>
            <a:r>
              <a:t>Visual:  Deep background; wordmark reverse top-left; Fraunces 72px title in Bone; subtitle in Signal Mint; confluence illustration right third; footer line in Night Muted.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name the problem plainly; do not quote a mortality statistic unless the current MBRRACE-UK citation is on the slide.</a:t>
            </a:r>
          </a:p>
          <a:p>
            <a:r>
              <a:t>Visual:  Bone background; eyebrow "THE GAP" in Teal; two-column body; a simple monoline diagram of four "between" gaps as breaks in a path, with the Ember node marking the break.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stage disclosure is a feature. Say it before anyone asks.</a:t>
            </a:r>
          </a:p>
          <a:p>
            <a:r>
              <a:t>Visual:  Bone; four pillar icons from the brand icon set (compass, spanner-and-path, Y-node shield, open book with signal line) in a row, each labelled; Y-node mark bottom-right.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loop is the point of a group rather than a boutique or a start-up: every engagement produces a reusable asset; every product decision is tested in advisory work first.</a:t>
            </a:r>
          </a:p>
          <a:p>
            <a:r>
              <a:t>Visual:  a circular four-node monoline diagram, Teal strokes on Bone, Ember node at the centre labelled "care"; pillar labels in Manrope 700.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is the cash layer and the credibility layer. Say which two packages fit the person in the room and stop.</a:t>
            </a:r>
          </a:p>
          <a:p>
            <a:r>
              <a:t>Visual:  Bone; three cards (Advisory / Consulting / Workshops) — cards are used because the viewer chooses between siblings (brand rule 6); prices in Manrope 700 with "ESTIMATE, ex-VAT" in Slate.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these are commitments a buyer can hold us to; they are also the reason we can work in maternity care at all.</a:t>
            </a:r>
          </a:p>
          <a:p>
            <a:r>
              <a:t>Visual:  five short lines with monoline icons; generous whitespace; no imagery.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read the "does not" line aloud. If the audience wants the AI story, go to slide 8; do not improvise.</a:t>
            </a:r>
          </a:p>
          <a:p>
            <a:r>
              <a:t>Visual:  Night background section-style slide; product name with the "(in development)" tag rendered as part of the lockup; feature list in two columns; a persistent tag "Non-diagnostic — in development" top-right in Ember Light.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gates are the differentiator. Trusts and ministries have been burnt by unvalidated apps; artefacts beat adjectives.</a:t>
            </a:r>
          </a:p>
          <a:p>
            <a:r>
              <a:t>Visual:  horizontal waypoint diagram; four gate markers in Ember before the v1 waypoint; v3 drawn as a dotted branch labelled "research"; source line at 16px.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two active product markets before 2028, no more; each extra market costs ~20 unbilled founder days a year (ESTIMATE).</a:t>
            </a:r>
          </a:p>
          <a:p>
            <a:r>
              <a:t>Visual:  simple three-tier list with a small stylised map made of monoline contour fields (no national flags, no pins over cities).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governance is a credibility asset at this stage; say what exists and what is being recruited, and never name an adviser without written consent.</a:t>
            </a:r>
          </a:p>
          <a:p>
            <a:r>
              <a:t>Visual:  two-column: "In place / In progress" — with dates in the bracketed fields [●].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no invented people. If the slide has one name, it has one name.</a:t>
            </a:r>
          </a:p>
          <a:p>
            <a:r>
              <a:t>Visual:  one portrait panel (illustration placeholder until real photography is commissioned with consent); roles in Manrope; no stock imagery.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ask for one specific next step and a date. Then stop talking.</a:t>
            </a:r>
          </a:p>
          <a:p>
            <a:r>
              <a:t>Visual:  Deep background; wordmark; four short lines; Ember CTA button style for the contact line; footer "Technology for Life".</a:t>
            </a:r>
          </a:p>
          <a:p>
            <a:r>
              <a:t>Visual: ---</a:t>
            </a:r>
          </a:p>
          <a:p>
            <a:r>
              <a:t>Visual: ## Appendix slides (optional, not counted)</a:t>
            </a:r>
          </a:p>
          <a:p>
            <a:r>
              <a:t>Visual: - A1 Service catalogue table (from `/assets/SERVICE_CATALOGUE.md` §3).</a:t>
            </a:r>
          </a:p>
          <a:p>
            <a:r>
              <a:t>Visual: - A2 MaternaLink intended-use statement (verbatim from `/docs/04_MATERNALINK_PRODUCT_STRATEGY.md` §21.1).</a:t>
            </a:r>
          </a:p>
          <a:p>
            <a:r>
              <a:t>Visual: - A3 "What we don't know yet" — the honesty slide: name clearance, IP agreement, buyer price acceptance, design-partner interest.</a:t>
            </a:r>
          </a:p>
          <a:p>
            <a:r>
              <a:t>Visual: ---</a:t>
            </a:r>
          </a:p>
          <a:p>
            <a:r>
              <a:t>Visual: ## Priorities / Risks / Next actions</a:t>
            </a:r>
          </a:p>
          <a:p>
            <a:r>
              <a:t>Visual: Priorities</a:t>
            </a:r>
          </a:p>
          <a:p>
            <a:r>
              <a:t>Visual: 1. Build the slide master per `/docs/03_BRAND_SYSTEM.md` §13 (currently TO DO in the brand checklist) and lay this deck into it.</a:t>
            </a:r>
          </a:p>
          <a:p>
            <a:r>
              <a:t>Visual: 2. Fill slide 11 with KNOWN facts only and confirm the founder's background line against the CV.</a:t>
            </a:r>
          </a:p>
          <a:p>
            <a:r>
              <a:t>Visual: 3. Keep slides 7–8 word-for-word aligned with the intended-use statement; any change requires clinical-adviser sign-off (`/docs/02_GROUP_STRUCTURE.md` §4.3).</a:t>
            </a:r>
          </a:p>
          <a:p>
            <a:r>
              <a:t>Visual: Risks</a:t>
            </a:r>
          </a:p>
          <a:p>
            <a:r>
              <a:t>Visual: - A presenter ad-libs "our platform predicts…"; mitigation: speaker notes carry the "does not" line and the deck is the only MaternaLink material shown externally (the 2025 deck is retired).</a:t>
            </a:r>
          </a:p>
          <a:p>
            <a:r>
              <a:t>Visual: - Name change after clearance; mitigation: wordmark is a single asset swap.</a:t>
            </a:r>
          </a:p>
          <a:p>
            <a:r>
              <a:t>Visual: - Outdated status fields; mitigation: date on every export; monthly review in the founder operating cadence.</a:t>
            </a:r>
          </a:p>
          <a:p>
            <a:r>
              <a:t>Visual: Next actions</a:t>
            </a:r>
          </a:p>
          <a:p>
            <a:r>
              <a:t>Visual: - Founder, by Day 14: slide master built; deck v1.0 exported to PDF; appendix A2 pasted verbatim.</a:t>
            </a:r>
          </a:p>
          <a:p>
            <a:r>
              <a:t>Visual: - Founder, by Day 30: first three uses logged in the CRM with audience feedback; revise slides 5 and 12 from what buyers asked.</a:t>
            </a:r>
          </a:p>
          <a:p>
            <a:r>
              <a:t>Visual: - Founder, by Day 60: slide 10 updated with any adviser appointed (with consent) and insurance in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Vytalix — Corporate presentation</a:t>
            </a:r>
          </a:p>
          <a:p>
            <a:pPr>
              <a:defRPr sz="1800">
                <a:solidFill>
                  <a:srgbClr val="C7D0E8"/>
                </a:solidFill>
              </a:defRPr>
            </a:pPr>
            <a:r>
              <a:t>Vytalix · Technology for Life · September 2026 · Draft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VYTALIX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Technology for Life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 UK health-technology group: advice, delivery, product, learning.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[Date]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[Audience or meeting name]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Confidential —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The gap we exist to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Care fails most often between people.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Between a woman and a changing set of professionals. Between one shift and the next. Between a community clinic and a hospital. Between a good idea and a safe, adopted product.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Public inquiries in UK maternity care (Ockenden 2022; Kirkup 2022) repeatedly found failures to listen, escalate and hand over.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Health-tech founders lose months to assurance and procurement they discover too late.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Source line: reports named above, gov.uk publications; cite the current MBRRACE-UK report before using any disparity statistic.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Vytalix is a UK health-technology group that advises, builds, delivers and teaches — so that technology earns its place in care.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Founder-led. Pre-seed. UK home market, with active interest in maternal health in Nigeria and one further African market.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Four pillars, one company: Advisory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Consulting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Health Solutions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E-Learning.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What we are not: NHS-approved, clinically validated, funded, or a team of twenty.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Four pillars, one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Advisory informs Delivery. Delivery informs Product. Product informs Learning. Learning feeds Advisory.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Advisory: independent, senior advice on strategy, market entry, regulation, funding readiness.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Consulting: fixed-scope, fixed-price sprints — discovery, business cases, readiness reviews, market-entry playbooks, evaluation.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Health Solutions: products designed for real care settings, starting with MaternaLink (in development).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E-Learning: practical courses for health teams and founders (first courses month 9, ESTIMATE; no accreditation claimed).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What we can do for you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Advisory days and monthly retainers (from £1,200/day; £4,000/month for two days — ESTIMATE).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Ten fixed-price consulting packages, £9,500–£28,000, two to six weeks each (ESTIMATE).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Examples: Digital Health Discovery Sprint (2 weeks)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DTAC &amp; Evidence Readiness Sprint (3 weeks)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Digital Maternity Readiness Review (4 weeks)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Health Inequalities &amp; Maternity Outcomes Review (5 weeks).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Everything founder-led; associates only on signed work; no patient data processed in advisory or consulting.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Full catalogue: `/assets/SERVICE_CATALOGUE.md`.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Fixed scope, fixed price, written change control.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Evidence before claims: we cite the source or we don't use the number.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Safety before speed: intended use, clinical safety (DCB0129/0160) and data protection come before features.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Build with, not for: discovery interviews before design; "built with clinicians" only once true.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We will tell you if your idea should not be built.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MaternaLink (in development)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A care-coordination and communication platform for maternity services, designed to help women stay connected to their care team and help care teams hand over safely — for NHS and low-connectivity settings.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v1 (PROPOSED): enrolment and consent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contact schedules and reminders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signed-off education in the woman's language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secure two-way messaging with a named human owner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 diary displayed, not interpreted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care-team console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structured handover summary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escalation log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missed-contact lists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programme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Roadmap with gates, not promises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Gates before anything is sold: (1) IP ownership documented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(2) prototype audited for code ownership, security and data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(3) Clinical Safety Officer appointed and hazard log opened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(4) DPIA and lawful-basis analysis complete.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v1 (12–16 weeks from funded start, ESTIMATE): non-diagnostic MVP; UK service evaluation; Nigeria SMS cohort with an implementing partner.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v2 (months 7–15, PROPOSED): integration (FHIR, DHIS2 export), WhatsApp/USSD/voice, partner access; any monitoring feature requires a documented device-qualification decision first.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v3 research track (month 15+, not a product commitment): the 2025 multimodal AI concept, advanced only with data partnerships, ethics approval, validation and a UK MDR / MHRA pathway.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Detail: `/docs/04_MATERNALINK_PRODUCT_STRATEGY.md`, `/product/MATERNALINK_ROADMAP.md`.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Where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United Kingdom: home and credibility market — services now; MaternaLink design partnership from month 6–18; paid pilots months 18–36 (`/docs/05_MARKET_STRATEGY.md` §8).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Nigeria: volume and impact market — one live conversation (status unknown); the play is partner, complement or move state, never displace on price; NGO- and donor-funded cohorts preferred until willingness to pay is validated.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Kenya: third market for 2028+, positioned on facility coordination and referral.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Everywhere else: consulting and e-learning only until 2028.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Governance and safety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One English company (recommended "Vytalix Group Ltd", name TO VALIDATE) with the four pillars as divisions; founder holds 100% at incorporation; all IP assigned to the company.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Board: founder plus one independent non-executive (PROPOSED). Advisory board of six profiles being recruited: obstetrics, midwifery/digital midwife, NHS digital and commissioning, Nigerian health-system leadership, regulatory and clinical safety, health-tech scaling. None appointed yet (KNOWN).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Policies at incorporation: conflicts of interest, anti-bribery, data protection, clinical-claims sign-off.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Insurance before the first paid engagement: professional indemnity and public liability (ESTIMATE ranges in `/docs/15_LEGAL_AND_REGULATORY.md` §11).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[Founder name], Founder — [two-line background: KNOWN facts only, confirmed against CV].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Associates: engaged on signed work; named only with consent.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Advisers: [name, role — only with written consent; otherwise "Recruiting: see slide 10"].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Declared interests: the founder's separate venture, Kemek Enterprise Ltd (property finance), is declared and unrelated.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What we are looking for /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Clients: a first conversation about one of the packages on slide 5 — a 30-minute discovery call, no charge.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Partners: one UK maternity service to co-design MaternaLink (in development) as an unpaid service evaluation; one Nigerian implementing partner with an existing cohort.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Advisers: the six profiles on slide 10.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Investors: not raising today; building in public; SEIS/EIS advance assurance planned after incorporation (TO VALIDATE eligibility).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Contact: [email]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[LinkedIn]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[website]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