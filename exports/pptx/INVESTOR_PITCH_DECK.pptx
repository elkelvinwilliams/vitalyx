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Wordmark on deep-navy field; thin contour-line motif.</a:t>
            </a:r>
          </a:p>
          <a:p>
            <a:r>
              <a:t> Thirty seconds. Who I am, what Vytalix is in one sentence, what I want from the meeting: a fit test, not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Three source cards with citations; no stock photography.</a:t>
            </a:r>
          </a:p>
          <a:p>
            <a:r>
              <a:t> Cite sources by name. Do not quote a statistic you cannot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Four-pillar diagram with the flow "services cash → product build".</a:t>
            </a:r>
          </a:p>
          <a:p>
            <a:r>
              <a:t> Explain why services first: revenue, references, credibility, and it keeps the product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Simple journey line: antenatal → birth → postnatal with touchpoints.</a:t>
            </a:r>
          </a:p>
          <a:p>
            <a:r>
              <a:t> Say "in development" out loud. Say what it is not: not a diagnostic tool, not a medical device, not an AI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A line with "v1 coordination" on one side and "v3 research track" on the other.</a:t>
            </a:r>
          </a:p>
          <a:p>
            <a:r>
              <a:t> This is the slide that answers the diligence question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Two columns; scored market table excerpt.</a:t>
            </a:r>
          </a:p>
          <a:p>
            <a:r>
              <a:t> Name the Ekiti incumbent yourself. Investors respect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Revenue-mix bar for the Base scenario by year.</a:t>
            </a:r>
          </a:p>
          <a:p>
            <a:r>
              <a:t> Be explicit that the £300/woman figure from a prior proposal is retired.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Three-column card layout with dates.</a:t>
            </a:r>
          </a:p>
          <a:p>
            <a:r>
              <a:t> No inflation. If a milestone has slipped, say so and say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2×2: clinical depth vs reach across settings.</a:t>
            </a:r>
          </a:p>
          <a:p>
            <a:r>
              <a:t> Say which advantages we cannot claim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Architecture diagram from `/docs/07_TECHNOLOGY_ARCHITECTURE.md`.</a:t>
            </a:r>
          </a:p>
          <a:p>
            <a:r>
              <a:t> Emphasise "what we will not build yet".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Timeline with gates (entity, IP, pilot LOI, evaluation, funding).</a:t>
            </a:r>
          </a:p>
          <a:p>
            <a:r>
              <a:t> Each gate names the claim it unlocks.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Org chart with "recruiting" markers; no invented people.</a:t>
            </a:r>
          </a:p>
          <a:p>
            <a:r>
              <a:t> Never show a name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Annual revenue and EBITDA bars for three scenarios.</a:t>
            </a:r>
          </a:p>
          <a:p>
            <a:r>
              <a:t> Lead with the assumptions, not the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 Use-of-funds donut; milestone list.</a:t>
            </a:r>
          </a:p>
          <a:p>
            <a:r>
              <a:t> Ask directly: "Is this within mandate? What would you need to see to lead or co-invest?"</a:t>
            </a:r>
          </a:p>
          <a:p>
            <a:r>
              <a:t>---</a:t>
            </a:r>
          </a:p>
          <a:p>
            <a:r>
              <a:t>Appendix (on request): risk register, regulatory memo, pilot design, competitive detail, cap table illustration (`/docs/09_FUNDING_STRATEGY.md`).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Vytalix — Investor pitch</a:t>
            </a:r>
          </a:p>
          <a:p>
            <a:pPr>
              <a:defRPr sz="1800">
                <a:solidFill>
                  <a:srgbClr val="C7D0E8"/>
                </a:solidFill>
              </a:defRPr>
            </a:pPr>
            <a:r>
              <a:t>Vytalix · Technology for Life · September 2026 ·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VYTALIX · Technology for Life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UK health-technology group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Pre-seed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[Month Year]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[Founder name, role]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Maternity care fails most often between appointments, not during them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UK reviews (Ockenden, Kirkup) repeatedly cite communication and coordination failures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MBRRACE-UK shows persistent inequalities for Black and Asian women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Nigeria carries one of the world's highest maternal mortality burdens, with weak continuity between women and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A group, not an app: services that fund the company and a product that defines it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Consulting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Health Solutions (MaternaLink, in development)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E-Learning (year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MaternaLink (in development)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A coordination layer between women, midwives and facilities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Continuity of contact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two-way messaging with human escalation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clinician-governed education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programme dashboards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offline-tolerant, low-bandwidth, multilingual roadmap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non-diagnostic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Why the regulatory posture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Built to stay outside device classification, with a path if we ever cross the line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Intended-use statement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clinical safety officer and hazard log (DCB0129)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UK GDPR, DPIA, data minimisation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DTAC readiness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AI risk-scoring kept as a research track behind ethics and a SaMD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Two entry markets with different buyers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UK: NHS trusts and ICBs, private maternity, employers (services and pilots first)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Nigeria: state programmes, NGOs, insurers, telecom distribution (design to complement existing programmes)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Sizing in `/docs/05_MARKET_STRATEGY.md`, all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Services now, platform licences later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 £1,200–£1,800/day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Consulting sprints £15k–£60k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Pilots £40k–£150k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Per-woman-per-year licences (UK £8–£40; Africa £3–£12 at scale)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E-learning B2B from year 2 (all ESTIMATE)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Traction,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What we have · what we are building · what is next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Have: full company build, prototype under audit, prior ministry conversation in Nigeria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Building: entity, IP deed, advisory board, research report, first engagements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Next: first paid engagement (Day 45), one UK evaluation site and one Nigeria NGO cohort in design (Day 90)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Record systems, consumer apps and donor programmes leave the coordination layer open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Clinical records (BadgerNet, K2, Euroking)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consumer/pregnancy apps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donor-funded programmes (mDoc in Nigeria, MomConnect in South Africa)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consultancies for the services pillar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Vytalix's buildable advantages: evidence-first posture, interoperability, clinician governance, UK-plus-Africa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Lean, standard, secure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Web/PWA front end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API and PostgreSQL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UK-region hosting with Nigeria residency options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messaging gateways (SMS, WhatsApp)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FHIR-aligned integration roadmap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Cyber Essentials and DSPT controls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no patient data to third-party AI without a DPIA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Eight quarters, gated by evidence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Q4 2026 foundations and services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2027 MVP, service evaluation, NGO cohort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2028 formal evaluation, seed, second market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2029 scale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Team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Founder-led, with the advisory board being recruited now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Founder [name, background]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Advisory board targets: obstetric/midwifery lead, NHS digital leader, Nigerian health-system leader, regulatory/QA adviser, investor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First hires funded by the round: product lead, fractional clinical safety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Three scenarios, one model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Base three-year revenue £1.47m; services 59%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Peak cash need £229k (Conservative) to £1.06m (Base)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Break-even not reached in 36 months in Base; sustained EBITDA depends on retainers and pilots converting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Full model: `/finance/Vytalix_Financial_Model_3yr.xlsx`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The raise and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 Pre-seed £250k–£500k to build the MVP and run two pilots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Use of funds: product lead, clinical-safety artefacts, MVP build, two pilots, compliance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SEIS/EIS advance assurance applied for after incorporation (TO VALIDATE)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Milestones before close: entity, IP deed, first revenue, pilot LOI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Later rounds only 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