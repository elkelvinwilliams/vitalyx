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thirty seconds on who we are: "Vytalix is a founder-led UK health-technology group — advisory, consulting, a product in development, and learning. We are pre-seed. Today is about your problem, not our story."</a:t>
            </a:r>
          </a:p>
          <a:p>
            <a:r>
              <a:t>Visual:  Deep title slide; prospect name in Bone, engagement title in Signal Mint; wordmark reverse top-left; no prospect logo without permission.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read it back and ask "Is that right? What have I missed?" — three minutes, mostly listening.</a:t>
            </a:r>
          </a:p>
          <a:p>
            <a:r>
              <a:t>Visual:  Bone; eyebrow "WHAT WE HEARD" in Teal; four short paragraphs; the prospect's own phrases in quotation marks in Fraunces; nothing else on the slide.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two minutes. Every fact has a source on the slide or in the notes; no fact without one.</a:t>
            </a:r>
          </a:p>
          <a:p>
            <a:r>
              <a:t>Visual:  Bone; two columns: "Your clock" and "The sector's clock"; a single stat only if sourced, set in Fraunces with the source line at 16px.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three minutes; this is where a young firm earns trust — by being explicit about how it behaves rather than by claiming a track record.</a:t>
            </a:r>
          </a:p>
          <a:p>
            <a:r>
              <a:t>Visual:  five lines with monoline icons; whitespace; no imagery.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five minutes; walk the phases and the exclusions with equal weight — exclusions prevent the two most common disputes (scope and expectations).</a:t>
            </a:r>
          </a:p>
          <a:p>
            <a:r>
              <a:t>Visual:  three-column phase diagram with waypoints; Ember node on the final deliverable; exclusions in a Mist-tinted box below.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two minutes; recommend one option and say why. Never discount on the call — guardrails in `/assets/PRICING_STRUCTURE.md` §7 apply.</a:t>
            </a:r>
          </a:p>
          <a:p>
            <a:r>
              <a:t>Visual:  three cards (choice between siblings, brand rule 6); recommended card with an Ember eyebrow "Recommended"; prices in Manrope 700; "ESTIMATE, ex-VAT" in Slate on every card.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one minute. Point at the dependency line: most slips are caused by access, not by us.</a:t>
            </a:r>
          </a:p>
          <a:p>
            <a:r>
              <a:t>Visual:  Gantt-style table; Teal bars; Ember marker on the final acceptance date; dependency row in Slate.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two minutes; the honesty about references is a strength when paired with the Phase-1 stop option — say it plainly.</a:t>
            </a:r>
          </a:p>
          <a:p>
            <a:r>
              <a:t>Visual:  one portrait panel (illustration placeholder until photography with consent); text block; no logos, no testimonials.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one minute; this slide exists to disclose an interest, not to sell. If they want more, book a separate conversation.</a:t>
            </a:r>
          </a:p>
          <a:p>
            <a:r>
              <a:t>Visual:  Night background slide; persistent tag "Non-diagnostic — in development" in Ember Light; three lines only.</a:t>
            </a:r>
          </a:p>
          <a:p>
            <a:r>
              <a:t>Visual: 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two minutes; agree the decision date and the kick-off date on the call. Do not leave without one specific next action and a date.</a:t>
            </a:r>
          </a:p>
          <a:p>
            <a:r>
              <a:t>Visual:  Deep background; four lines; Ember CTA style on the decision line; footer "Vytalix — Technology for Life".</a:t>
            </a:r>
          </a:p>
          <a:p>
            <a:r>
              <a:t>Visual: ---</a:t>
            </a:r>
          </a:p>
          <a:p>
            <a:r>
              <a:t>Visual: ## Using this deck</a:t>
            </a:r>
          </a:p>
          <a:p>
            <a:r>
              <a:t>Visual: | Rule | Detail |</a:t>
            </a:r>
          </a:p>
          <a:p>
            <a:r>
              <a:t>Visual: |---|---|</a:t>
            </a:r>
          </a:p>
          <a:p>
            <a:r>
              <a:t>Visual: | Never sent cold | Built from discovery notes; slide 2 must contain the prospect's own words |</a:t>
            </a:r>
          </a:p>
          <a:p>
            <a:r>
              <a:t>Visual: | One recommendation | Slide 6 recommends one option; the others frame it |</a:t>
            </a:r>
          </a:p>
          <a:p>
            <a:r>
              <a:t>Visual: | No claims that are not true | No logos, testimonials, "trusted by", named associates or advisers without consent; no MaternaLink outcome claims |</a:t>
            </a:r>
          </a:p>
          <a:p>
            <a:r>
              <a:t>Visual: | Follow-up sequence | Same-day summary email; Day 2 proposal; Day 5 check-in call; Day 9 "what would help?"; Day 21 close (`/docs/13_SALES_ENGINE.md` §8) |</a:t>
            </a:r>
          </a:p>
          <a:p>
            <a:r>
              <a:t>Visual: | Loss reasons coded | Price / timing / no budget / no need / chose competitor / no decision / not ICP — recorded in the CRM |</a:t>
            </a:r>
          </a:p>
          <a:p>
            <a:r>
              <a:t>Visual: ---</a:t>
            </a:r>
          </a:p>
          <a:p>
            <a:r>
              <a:t>Visual: ## Priorities / Risks / Next actions</a:t>
            </a:r>
          </a:p>
          <a:p>
            <a:r>
              <a:t>Visual: Priorities</a:t>
            </a:r>
          </a:p>
          <a:p>
            <a:r>
              <a:t>Visual: 1. Lay the deck into the slide master and create a one-page "fill-in sheet" that maps discovery answers to the bracketed fields on slides 2, 3, 5, 6 and 7.</a:t>
            </a:r>
          </a:p>
          <a:p>
            <a:r>
              <a:t>Visual: 2. Use it on the first six prospects; record which option was chosen and which objections arose (feeds the pricing tests in `/docs/01_BUSINESS_MODEL.md` §8).</a:t>
            </a:r>
          </a:p>
          <a:p>
            <a:r>
              <a:t>Visual: 3. Purchase professional indemnity and public liability insurance before slide 8's insurance line is shown.</a:t>
            </a:r>
          </a:p>
          <a:p>
            <a:r>
              <a:t>Visual: Risks</a:t>
            </a:r>
          </a:p>
          <a:p>
            <a:r>
              <a:t>Visual: - Presenting a generic version without discovery; mitigation: slide 2 cannot be left with brackets — the deck is not sent if they remain.</a:t>
            </a:r>
          </a:p>
          <a:p>
            <a:r>
              <a:t>Visual: - Discounting under pressure on the call; mitigation: guardrails in `/assets/PRICING_STRUCTURE.md` §7; any discount requires a written reason.</a:t>
            </a:r>
          </a:p>
          <a:p>
            <a:r>
              <a:t>Visual: - Selling packages gated on capability not yet in place (C3, C5, C8, C9); mitigation: the "Proof required to sell" gate in `/assets/SERVICE_CATALOGUE.md`.</a:t>
            </a:r>
          </a:p>
          <a:p>
            <a:r>
              <a:t>Visual: Next actions</a:t>
            </a:r>
          </a:p>
          <a:p>
            <a:r>
              <a:t>Visual: - Founder, by Day 14: deck v1.0 in the slide master; fill-in sheet created; insurance quotes obtained.</a:t>
            </a:r>
          </a:p>
          <a:p>
            <a:r>
              <a:t>Visual: - Founder, by Day 45: first two proposals issued from this deck; objections logged.</a:t>
            </a:r>
          </a:p>
          <a:p>
            <a:r>
              <a:t>Visual: - Founder, by Day 90: option-selection and win/loss data reviewed; slides 5–6 revised.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Vytalix Advisory &amp; Consulting — Sales deck</a:t>
            </a:r>
          </a:p>
          <a:p>
            <a:pPr>
              <a:defRPr sz="1800">
                <a:solidFill>
                  <a:srgbClr val="C7D0E8"/>
                </a:solidFill>
              </a:defRPr>
            </a:pPr>
            <a:r>
              <a:t>Vytalix · Technology for Life · September 2026 ·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[Prospect organisation] × Vytalix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[Engagement working title, e.g. "Getting NHS-ready in 12 weeks"]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Prepared for [Name, role]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[Date]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Confidential —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Your situation, as we heard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What prompted this conversation: [their words from discovery Q1].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Where you are today: [current state; what has been tried; what happened].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What success looks like in six months: [their success criteria, Q3].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What happens if nothing changes by [date]: [their answer to Q6].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Constraints we must respect from Day 1: [regulatory, clinical-safety, data-protection, procurement constraints, Q16].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Why it matters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The cost of the problem as you described it: [time / money / risk / missed opportunity, Q7].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The external clock: [board meeting, funding round, tender, inspection, programme deadline, Q11].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Sector context (cited): [one or two relevant, sourced facts — e.g. DTAC is assessed by each buying organisation, not "certified"; NHS product sales cycles of 9–18 months (ESTIMATE); MBRRACE-UK findings, current report cited; Nigeria NDPA 2023 obligations].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Doing nothing is a decision with a price: [the consequence they named].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Fixed scope, fixed price, written change control. You know the deliverable, the acceptance criterion and the date before we start.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Founder-led. The person you met does the work; associates join only on signed work and only with your agreement.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Evidence before claims. We cite sources; we tell you if the idea should not be built.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Safety and data by design. Advisory and consulting engagements process no patient data.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Every engagement leaves you a reusable asset — a template, a checklist, a model — not just a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Our proposed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Phase 1 — Understand ([n] days): [activities, e.g. 10–15 interviews, document review, current-state map]. Output: [deliverable].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Phase 2 — Decide ([n] days): [option appraisal / gap analysis / business case draft]. Output: [deliverable].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Phase 3 — Plan ([n] days): [90-day roadmap / readiness sequence / board paper]. Output: [deliverable].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What we will not do: [explicit exclusions — e.g. build software, sign off a clinical safety case in place of your CSO, give legal advice, process patient data].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Your involvement: [hours per week from the day-to-day counterpart, Q17; access to people and documents].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Packages and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Option A — Good: [package code and name, e.g. C7 Grant &amp; Investor Readiness Sprint], [duration], [deliverables in one line], £[fee] (ESTIMATE, ex-VAT).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Option B — Better (recommended): [e.g. C6 DTAC &amp; Evidence Readiness Sprint + 1 advisory day per month for 3 months], [duration], [deliverables], £[fee].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Option C — Best: [e.g. C4 UK Market-Entry Playbook + C6 + A2 retainer for 3 months], [duration], [deliverables], £[fee]; bundle pricing per `/assets/PRICING_STRUCTURE.md` §6.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All options: fixed fee; 50% on signing for engagements under £20k, 40/30/30 milestones above; expenses at cost with prior approval; 14-day payment terms.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Catalogue prices for reference: C1 £14,000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C2 £18,000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C3 £24,000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C4 £22,000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C5 £20,000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C6 £15,000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C7 £9,500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Week 0: kick-off (90 minutes), access and dependencies confirmed, interview list agreed.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Weeks 1–[n]: Phase 1 — [milestone]. Check-in every [Tuesday].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Weeks [n]–[n]: Phase 2 — [milestone]; interim readout.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Week [n]: Phase 3 — final deliverables; acceptance review; handover of reusable assets.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Week [n+2]: 30-minute follow-up call (included) to review adoption.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Dependencies on you: [named counterpart availability; access to documents; interviewee introductions by week 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Who does the work and why trust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[Founder name], Founder — [two-line background: KNOWN facts only, confirmed against the CV].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Methods are documented and open: discovery guide, decision-scoring framework, DTAC readiness sequence, hazard-log starter (published in our Insights; see `/docs/14_MARKETING_AND_CONTENT_ENGINE.md` §6).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Associates (if any): [name, role — with consent only; otherwise "an NHS-experienced associate will be proposed for your approval before Phase 1"].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Advisers: [only if appointed with written consent; otherwise omit the line].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Insurance: professional indemnity £[1m] and public liability in place [from date — do not present until purchased].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What we don't have yet: named client references. We offer a first-engagement price review at the end of Phase 1 instead: if the interim readout does not meet the agreed acceptance criterion, you may stop at that point and pay only for Phase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Optional: where MaternaLink (in development)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*Include only when the prospect's problem is maternity-related; otherwise delete.*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Separately from this engagement, Vytalix is developing MaternaLink — a non-diagnostic care-coordination and communication platform for maternity services (NHS and low-connectivity settings). It does not diagnose, predict or score.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It is not for sale today. It is in development; IP, prototype audit, clinical safety and DPIA gates are being closed first.</a:t>
            </a:r>
          </a:p>
          <a:p>
            <a:pPr>
              <a:spcAft>
                <a:spcPts val="600"/>
              </a:spcAft>
              <a:defRPr sz="1300">
                <a:solidFill>
                  <a:srgbClr val="10192B"/>
                </a:solidFill>
                <a:latin typeface="Calibri"/>
              </a:defRPr>
            </a:pPr>
            <a:r>
              <a:t>• If useful, we would welcome your team's input as a design partner in a service evaluation, with no purchase obligation and a separate, explicit agreement (`/assets/PARTNERSHIP_DECK.md`).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Conflict rule: any consulting advice we give you on maternity digital tools declares this interest in 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53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ytali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463040" cy="572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3892"/>
                </a:solidFill>
                <a:latin typeface="Cambria"/>
              </a:defRPr>
            </a:pPr>
            <a: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Copy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Decision needed by: [date] (proposal validity 21 days from issue).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Proposed kick-off: [date].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What we need from you: [named counterpart; MSA and SOW signature; access list; 50% invoice paid or purchase order raised].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What you get from us within two working days: the written proposal (`/assets/PROPOSAL_TEMPLATE.md`), the MSA, and a kick-off agenda.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Contact: [founder email]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[LinkedIn]</a:t>
            </a:r>
          </a:p>
          <a:p>
            <a:pPr>
              <a:spcAft>
                <a:spcPts val="600"/>
              </a:spcAft>
              <a:defRPr sz="1600">
                <a:solidFill>
                  <a:srgbClr val="10192B"/>
                </a:solidFill>
                <a:latin typeface="Calibri"/>
              </a:defRPr>
            </a:pPr>
            <a:r>
              <a:t>• [website]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5568"/>
                </a:solidFill>
              </a:defRPr>
            </a:pPr>
            <a:r>
              <a:t>Vytalix · Technology for Life · Confidential · In development; no claims of approval, validation or traction beyond those stated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